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Azeret Mono"/>
      <p:regular r:id="rId201314"/>
    </p:embeddedFont>
    <p:embeddedFont>
      <p:font typeface="Azeret Mono Medium"/>
      <p:regular r:id="rId201315"/>
    </p:embeddedFont>
    <p:embeddedFont>
      <p:font typeface="Azeret Mono SemiBold"/>
      <p:regular r:id="rId201316"/>
    </p:embeddedFont>
    <p:embeddedFont>
      <p:font typeface="Azeret Mono Bold"/>
      <p:regular r:id="rId201317"/>
    </p:embeddedFont>
    <p:embeddedFont>
      <p:font typeface="Krona One"/>
      <p:regular r:id="rId201318"/>
    </p:embeddedFont>
    <p:embeddedFont>
      <p:font typeface="Open Sans Bold"/>
      <p:regular r:id="rId201319"/>
    </p:embeddedFont>
    <p:embeddedFont>
      <p:font typeface="Open Sans"/>
      <p:regular r:id="rId201320"/>
    </p:embeddedFont>
    <p:embeddedFont>
      <p:font typeface="Open Sans SemiBold"/>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look at how artificial intelligence is genuinely transforming the student experience—not by replacing study or outsourcing thought, but by redefining how we explore, iterate, and master complex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generative conversation is only one small slice of AI. Pattern recognition across problem sets and real-time decision support for educators and learners form the true backbone of adaptive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timeline from left to right. Notice that AI is not a single gatekeeper at the end of an assignment; it supports discovery, builds deliberate practice, and accelerates reflection during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three core pillars: feedback speed, cognitive adaptability, and human capacity. When routine syntax checks and quiz evaluation are automated, faculty regain time for high-value discussion and individual mentorship.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three comparative domains. Emphasize that speed does not equal truth: models offer draft thinking, but only the student's disciplined verification ensures accuracy and intellectual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education is moving: literacy over reliance. When AI is embedded everywhere, true distinction comes from knowing how to interrogate an answer, evaluate evidence, and defend the process of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this guiding principle: technology amplifies the intellect that directs it. When students remain critical drivers rather than passive recipients, AI becomes a powerful catalyst for authentic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4F4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20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4F46"/>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253122"/>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04F4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8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5156" y="1087628"/>
            <a:ext cx="6749881" cy="2797969"/>
          </a:xfrm>
          <a:prstGeom prst="rect">
            <a:avLst/>
          </a:prstGeom>
          <a:noFill/>
          <a:ln/>
        </p:spPr>
        <p:txBody>
          <a:bodyPr wrap="square" lIns="0" tIns="0" rIns="0" bIns="0" rtlCol="0" anchor="t">
            <a:normAutofit/>
          </a:bodyPr>
          <a:lstStyle/>
          <a:p>
            <a:pPr algn="l" indent="0" marL="0">
              <a:lnSpc>
                <a:spcPct val="85000"/>
              </a:lnSpc>
              <a:buNone/>
            </a:pPr>
            <a:r>
              <a:rPr lang="en-US" sz="5400" spc="-216" kern="100" dirty="0">
                <a:solidFill>
                  <a:srgbClr val="FFFFFF"/>
                </a:solidFill>
                <a:latin typeface="Krona One" pitchFamily="34" charset="0"/>
                <a:ea typeface="Krona One" pitchFamily="34" charset="-122"/>
                <a:cs typeface="Krona One" pitchFamily="34" charset="-120"/>
              </a:rPr>
              <a:t>Artificial intelligence</a:t>
            </a:r>
            <a:endParaRPr lang="en-US" sz="5400" dirty="0"/>
          </a:p>
          <a:p>
            <a:pPr algn="l" indent="0" marL="0">
              <a:lnSpc>
                <a:spcPct val="85000"/>
              </a:lnSpc>
              <a:buNone/>
            </a:pPr>
            <a:r>
              <a:rPr lang="en-US" sz="5400" spc="-216" kern="100" dirty="0">
                <a:solidFill>
                  <a:srgbClr val="FFFFFF"/>
                </a:solidFill>
                <a:latin typeface="Krona One" pitchFamily="34" charset="0"/>
                <a:ea typeface="Krona One" pitchFamily="34" charset="-122"/>
                <a:cs typeface="Krona One" pitchFamily="34" charset="-120"/>
              </a:rPr>
              <a:t>is </a:t>
            </a:r>
            <a:pPr algn="l" indent="0" marL="0">
              <a:lnSpc>
                <a:spcPct val="85000"/>
              </a:lnSpc>
              <a:buNone/>
            </a:pPr>
            <a:r>
              <a:rPr lang="en-US" sz="5400" spc="-216" kern="100" dirty="0">
                <a:solidFill>
                  <a:srgbClr val="F58E84"/>
                </a:solidFill>
                <a:latin typeface="Krona One" pitchFamily="34" charset="0"/>
                <a:ea typeface="Krona One" pitchFamily="34" charset="-122"/>
                <a:cs typeface="Krona One" pitchFamily="34" charset="-120"/>
              </a:rPr>
              <a:t>reshaping education</a:t>
            </a:r>
            <a:endParaRPr lang="en-US" sz="5400" dirty="0"/>
          </a:p>
        </p:txBody>
      </p:sp>
      <p:sp>
        <p:nvSpPr>
          <p:cNvPr id="3" name="Text 1"/>
          <p:cNvSpPr/>
          <p:nvPr/>
        </p:nvSpPr>
        <p:spPr>
          <a:xfrm>
            <a:off x="765156" y="4033044"/>
            <a:ext cx="6749881"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Open Sans" pitchFamily="34" charset="0"/>
                <a:ea typeface="Open Sans" pitchFamily="34" charset="-122"/>
                <a:cs typeface="Open Sans" pitchFamily="34" charset="-120"/>
              </a:rPr>
              <a:t>Beyond automated answers: how cognitive tools amplify student agency and human guidance.</a:t>
            </a:r>
            <a:endParaRPr lang="en-US" sz="2000" dirty="0"/>
          </a:p>
        </p:txBody>
      </p:sp>
      <p:sp>
        <p:nvSpPr>
          <p:cNvPr id="4" name="Shape 2"/>
          <p:cNvSpPr/>
          <p:nvPr/>
        </p:nvSpPr>
        <p:spPr>
          <a:xfrm>
            <a:off x="765156" y="5014118"/>
            <a:ext cx="2227306" cy="279301"/>
          </a:xfrm>
          <a:prstGeom prst="roundRect">
            <a:avLst>
              <a:gd name="adj" fmla="val 49999"/>
            </a:avLst>
          </a:prstGeom>
          <a:solidFill>
            <a:srgbClr val="F58E84"/>
          </a:solidFill>
          <a:ln/>
        </p:spPr>
      </p:sp>
      <p:sp>
        <p:nvSpPr>
          <p:cNvPr id="5" name="Text 3"/>
          <p:cNvSpPr/>
          <p:nvPr/>
        </p:nvSpPr>
        <p:spPr>
          <a:xfrm>
            <a:off x="765156" y="5975985"/>
            <a:ext cx="5835504"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FFFFF"/>
                </a:solidFill>
                <a:latin typeface="Azeret Mono" pitchFamily="34" charset="0"/>
                <a:ea typeface="Azeret Mono" pitchFamily="34" charset="-122"/>
                <a:cs typeface="Azeret Mono" pitchFamily="34" charset="-120"/>
              </a:rPr>
              <a:t>Academic Briefing · Student Guide to Applied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1058307"/>
            <a:ext cx="751821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FOUNDATIONS</a:t>
            </a:r>
            <a:endParaRPr lang="en-US" sz="1100" dirty="0"/>
          </a:p>
        </p:txBody>
      </p:sp>
      <p:sp>
        <p:nvSpPr>
          <p:cNvPr id="3" name="Text 1"/>
          <p:cNvSpPr/>
          <p:nvPr/>
        </p:nvSpPr>
        <p:spPr>
          <a:xfrm>
            <a:off x="609585" y="1352907"/>
            <a:ext cx="6908627" cy="987425"/>
          </a:xfrm>
          <a:prstGeom prst="rect">
            <a:avLst/>
          </a:prstGeom>
          <a:noFill/>
          <a:ln/>
        </p:spPr>
        <p:txBody>
          <a:bodyPr wrap="square" lIns="0" tIns="0" rIns="0" bIns="0" rtlCol="0" anchor="t">
            <a:normAutofit/>
          </a:bodyPr>
          <a:lstStyle/>
          <a:p>
            <a:pPr algn="l" indent="0" marL="0">
              <a:lnSpc>
                <a:spcPct val="90000"/>
              </a:lnSpc>
              <a:buNone/>
            </a:pPr>
            <a:r>
              <a:rPr lang="en-US" sz="3600" spc="-108" kern="100" dirty="0">
                <a:solidFill>
                  <a:srgbClr val="F4EFEA"/>
                </a:solidFill>
                <a:latin typeface="Krona One" pitchFamily="34" charset="0"/>
                <a:ea typeface="Krona One" pitchFamily="34" charset="-122"/>
                <a:cs typeface="Krona One" pitchFamily="34" charset="-120"/>
              </a:rPr>
              <a:t>AI means more</a:t>
            </a:r>
            <a:endParaRPr lang="en-US" sz="3600" dirty="0"/>
          </a:p>
          <a:p>
            <a:pPr algn="l" indent="0" marL="0">
              <a:lnSpc>
                <a:spcPct val="90000"/>
              </a:lnSpc>
              <a:buNone/>
            </a:pPr>
            <a:r>
              <a:rPr lang="en-US" sz="3600" spc="-108" kern="100" dirty="0">
                <a:solidFill>
                  <a:srgbClr val="F4EFEA"/>
                </a:solidFill>
                <a:latin typeface="Krona One" pitchFamily="34" charset="0"/>
                <a:ea typeface="Krona One" pitchFamily="34" charset="-122"/>
                <a:cs typeface="Krona One" pitchFamily="34" charset="-120"/>
              </a:rPr>
              <a:t>than </a:t>
            </a:r>
            <a:pPr algn="l" indent="0" marL="0">
              <a:lnSpc>
                <a:spcPct val="90000"/>
              </a:lnSpc>
              <a:buNone/>
            </a:pPr>
            <a:r>
              <a:rPr lang="en-US" sz="3600" spc="-108" kern="100" dirty="0">
                <a:solidFill>
                  <a:srgbClr val="F58E84"/>
                </a:solidFill>
                <a:latin typeface="Krona One" pitchFamily="34" charset="0"/>
                <a:ea typeface="Krona One" pitchFamily="34" charset="-122"/>
                <a:cs typeface="Krona One" pitchFamily="34" charset="-120"/>
              </a:rPr>
              <a:t>chatbots</a:t>
            </a:r>
            <a:endParaRPr lang="en-US" sz="3600" dirty="0"/>
          </a:p>
        </p:txBody>
      </p:sp>
      <p:sp>
        <p:nvSpPr>
          <p:cNvPr id="4" name="Text 2"/>
          <p:cNvSpPr/>
          <p:nvPr/>
        </p:nvSpPr>
        <p:spPr>
          <a:xfrm>
            <a:off x="609585" y="2525117"/>
            <a:ext cx="6908627" cy="11049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4EFEA"/>
                </a:solidFill>
                <a:latin typeface="Open Sans" pitchFamily="34" charset="0"/>
                <a:ea typeface="Open Sans" pitchFamily="34" charset="-122"/>
                <a:cs typeface="Open Sans" pitchFamily="34" charset="-120"/>
              </a:rPr>
              <a:t>AI systems recognize patterns, generate content, and support decisions. Language models are only the visible front door to modern educational technology.</a:t>
            </a:r>
            <a:endParaRPr lang="en-US" sz="2000" dirty="0"/>
          </a:p>
        </p:txBody>
      </p:sp>
      <p:sp>
        <p:nvSpPr>
          <p:cNvPr id="5" name="Text 3"/>
          <p:cNvSpPr/>
          <p:nvPr/>
        </p:nvSpPr>
        <p:spPr>
          <a:xfrm>
            <a:off x="609585" y="3820517"/>
            <a:ext cx="6908627" cy="1986161"/>
          </a:xfrm>
          <a:prstGeom prst="rect">
            <a:avLst/>
          </a:prstGeom>
          <a:noFill/>
          <a:ln/>
        </p:spPr>
        <p:txBody>
          <a:bodyPr wrap="square" lIns="0" tIns="0" rIns="0" bIns="0" rtlCol="0" anchor="t">
            <a:normAutofit/>
          </a:bodyPr>
          <a:lstStyle/>
          <a:p>
            <a:pPr algn="l" marL="345440" indent="-345440">
              <a:lnSpc>
                <a:spcPct val="121000"/>
              </a:lnSpc>
              <a:buSzPct val="100000"/>
              <a:buFont typeface="+mj-lt"/>
              <a:buAutoNum type="arabicPeriod" startAt="1"/>
            </a:pPr>
            <a:r>
              <a:rPr lang="en-US" sz="1700" b="1" dirty="0">
                <a:solidFill>
                  <a:srgbClr val="F4EFEA"/>
                </a:solidFill>
                <a:latin typeface="Open Sans Bold" pitchFamily="34" charset="0"/>
                <a:ea typeface="Open Sans Bold" pitchFamily="34" charset="-122"/>
                <a:cs typeface="Open Sans Bold" pitchFamily="34" charset="-120"/>
              </a:rPr>
              <a:t>Pattern recognition:</a:t>
            </a:r>
            <a:pPr algn="l" marL="345440" indent="-345440">
              <a:lnSpc>
                <a:spcPct val="121000"/>
              </a:lnSpc>
              <a:buSzPct val="100000"/>
              <a:buFont typeface="+mj-lt"/>
              <a:buAutoNum type="arabicPeriod" startAt="1"/>
            </a:pPr>
            <a:r>
              <a:rPr lang="en-US" sz="1700" dirty="0">
                <a:solidFill>
                  <a:srgbClr val="F4EFEA"/>
                </a:solidFill>
                <a:latin typeface="Open Sans" pitchFamily="34" charset="0"/>
                <a:ea typeface="Open Sans" pitchFamily="34" charset="-122"/>
                <a:cs typeface="Open Sans" pitchFamily="34" charset="-120"/>
              </a:rPr>
              <a:t> map individual mastery curves and detect conceptual bottlenecks.</a:t>
            </a:r>
            <a:endParaRPr lang="en-US" sz="1700" dirty="0"/>
          </a:p>
          <a:p>
            <a:pPr algn="l" marL="345440" indent="-345440">
              <a:lnSpc>
                <a:spcPct val="121000"/>
              </a:lnSpc>
              <a:buSzPct val="100000"/>
              <a:buFont typeface="+mj-lt"/>
              <a:buAutoNum type="arabicPeriod" startAt="2"/>
            </a:pPr>
            <a:r>
              <a:rPr lang="en-US" sz="1700" b="1" dirty="0">
                <a:solidFill>
                  <a:srgbClr val="F4EFEA"/>
                </a:solidFill>
                <a:latin typeface="Open Sans Bold" pitchFamily="34" charset="0"/>
                <a:ea typeface="Open Sans Bold" pitchFamily="34" charset="-122"/>
                <a:cs typeface="Open Sans Bold" pitchFamily="34" charset="-120"/>
              </a:rPr>
              <a:t>Targeted generation:</a:t>
            </a:r>
            <a:pPr algn="l" marL="345440" indent="-345440">
              <a:lnSpc>
                <a:spcPct val="121000"/>
              </a:lnSpc>
              <a:buSzPct val="100000"/>
              <a:buFont typeface="+mj-lt"/>
              <a:buAutoNum type="arabicPeriod" startAt="2"/>
            </a:pPr>
            <a:r>
              <a:rPr lang="en-US" sz="1700" dirty="0">
                <a:solidFill>
                  <a:srgbClr val="F4EFEA"/>
                </a:solidFill>
                <a:latin typeface="Open Sans" pitchFamily="34" charset="0"/>
                <a:ea typeface="Open Sans" pitchFamily="34" charset="-122"/>
                <a:cs typeface="Open Sans" pitchFamily="34" charset="-120"/>
              </a:rPr>
              <a:t> generate contextual analogies, test edge cases, and translate challenging notation on demand.</a:t>
            </a:r>
            <a:endParaRPr lang="en-US" sz="1700" dirty="0"/>
          </a:p>
          <a:p>
            <a:pPr algn="l" marL="345440" indent="-345440">
              <a:lnSpc>
                <a:spcPct val="121000"/>
              </a:lnSpc>
              <a:buSzPct val="100000"/>
              <a:buFont typeface="+mj-lt"/>
              <a:buAutoNum type="arabicPeriod" startAt="3"/>
            </a:pPr>
            <a:r>
              <a:rPr lang="en-US" sz="1700" b="1" dirty="0">
                <a:solidFill>
                  <a:srgbClr val="F4EFEA"/>
                </a:solidFill>
                <a:latin typeface="Open Sans Bold" pitchFamily="34" charset="0"/>
                <a:ea typeface="Open Sans Bold" pitchFamily="34" charset="-122"/>
                <a:cs typeface="Open Sans Bold" pitchFamily="34" charset="-120"/>
              </a:rPr>
              <a:t>Decision support:</a:t>
            </a:r>
            <a:pPr algn="l" marL="345440" indent="-345440">
              <a:lnSpc>
                <a:spcPct val="121000"/>
              </a:lnSpc>
              <a:buSzPct val="100000"/>
              <a:buFont typeface="+mj-lt"/>
              <a:buAutoNum type="arabicPeriod" startAt="3"/>
            </a:pPr>
            <a:r>
              <a:rPr lang="en-US" sz="1700" dirty="0">
                <a:solidFill>
                  <a:srgbClr val="F4EFEA"/>
                </a:solidFill>
                <a:latin typeface="Open Sans" pitchFamily="34" charset="0"/>
                <a:ea typeface="Open Sans" pitchFamily="34" charset="-122"/>
                <a:cs typeface="Open Sans" pitchFamily="34" charset="-120"/>
              </a:rPr>
              <a:t> suggest relevant secondary readings, schedule reviews, and keep human judgment in command.</a:t>
            </a:r>
            <a:endParaRPr lang="en-US" sz="1700" dirty="0"/>
          </a:p>
        </p:txBody>
      </p:sp>
      <p:pic>
        <p:nvPicPr>
          <p:cNvPr id="6" name="Image 0" descr="preencoded.png">    </p:cNvPr>
          <p:cNvPicPr>
            <a:picLocks noChangeAspect="1"/>
          </p:cNvPicPr>
          <p:nvPr/>
        </p:nvPicPr>
        <p:blipFill>
          <a:blip r:embed="rId1"/>
          <a:stretch>
            <a:fillRect/>
          </a:stretch>
        </p:blipFill>
        <p:spPr>
          <a:xfrm>
            <a:off x="8127797" y="0"/>
            <a:ext cx="406389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TOUCHPOINTS</a:t>
            </a:r>
            <a:endParaRPr lang="en-US" sz="1100" dirty="0"/>
          </a:p>
        </p:txBody>
      </p:sp>
      <p:sp>
        <p:nvSpPr>
          <p:cNvPr id="3" name="Text 1"/>
          <p:cNvSpPr/>
          <p:nvPr/>
        </p:nvSpPr>
        <p:spPr>
          <a:xfrm>
            <a:off x="609585" y="900584"/>
            <a:ext cx="10972526" cy="356592"/>
          </a:xfrm>
          <a:prstGeom prst="rect">
            <a:avLst/>
          </a:prstGeom>
          <a:noFill/>
          <a:ln/>
        </p:spPr>
        <p:txBody>
          <a:bodyPr wrap="none" lIns="0" tIns="0" rIns="0" bIns="0" rtlCol="0" anchor="t"/>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Students encounter AI across the learning journey</a:t>
            </a:r>
            <a:endParaRPr lang="en-US" sz="2600" dirty="0"/>
          </a:p>
        </p:txBody>
      </p:sp>
      <p:pic>
        <p:nvPicPr>
          <p:cNvPr id="4" name="Image 0" descr="preencoded.png">    </p:cNvPr>
          <p:cNvPicPr>
            <a:picLocks noChangeAspect="1"/>
          </p:cNvPicPr>
          <p:nvPr/>
        </p:nvPicPr>
        <p:blipFill>
          <a:blip r:embed="rId1"/>
          <a:stretch>
            <a:fillRect/>
          </a:stretch>
        </p:blipFill>
        <p:spPr>
          <a:xfrm>
            <a:off x="609585" y="1449388"/>
            <a:ext cx="539736" cy="539750"/>
          </a:xfrm>
          <a:prstGeom prst="rect">
            <a:avLst/>
          </a:prstGeom>
        </p:spPr>
      </p:pic>
      <p:sp>
        <p:nvSpPr>
          <p:cNvPr id="5" name="Text 2"/>
          <p:cNvSpPr/>
          <p:nvPr/>
        </p:nvSpPr>
        <p:spPr>
          <a:xfrm>
            <a:off x="609585" y="2199005"/>
            <a:ext cx="5333867"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Prep &amp; Discovery</a:t>
            </a:r>
            <a:endParaRPr lang="en-US" sz="1800" dirty="0"/>
          </a:p>
        </p:txBody>
      </p:sp>
      <p:sp>
        <p:nvSpPr>
          <p:cNvPr id="6" name="Text 3"/>
          <p:cNvSpPr/>
          <p:nvPr/>
        </p:nvSpPr>
        <p:spPr>
          <a:xfrm>
            <a:off x="609585" y="2638246"/>
            <a:ext cx="533386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Dynamic concept breakdowns, language translation, and tailored diagnostic assessments.</a:t>
            </a:r>
            <a:endParaRPr lang="en-US" sz="1700" dirty="0"/>
          </a:p>
        </p:txBody>
      </p:sp>
      <p:pic>
        <p:nvPicPr>
          <p:cNvPr id="7" name="Image 1" descr="preencoded.png">    </p:cNvPr>
          <p:cNvPicPr>
            <a:picLocks noChangeAspect="1"/>
          </p:cNvPicPr>
          <p:nvPr/>
        </p:nvPicPr>
        <p:blipFill>
          <a:blip r:embed="rId2"/>
          <a:stretch>
            <a:fillRect/>
          </a:stretch>
        </p:blipFill>
        <p:spPr>
          <a:xfrm>
            <a:off x="6248244" y="1449388"/>
            <a:ext cx="539736" cy="539750"/>
          </a:xfrm>
          <a:prstGeom prst="rect">
            <a:avLst/>
          </a:prstGeom>
        </p:spPr>
      </p:pic>
      <p:sp>
        <p:nvSpPr>
          <p:cNvPr id="8" name="Text 4"/>
          <p:cNvSpPr/>
          <p:nvPr/>
        </p:nvSpPr>
        <p:spPr>
          <a:xfrm>
            <a:off x="6248244" y="2199005"/>
            <a:ext cx="5333867"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Active Practice</a:t>
            </a:r>
            <a:endParaRPr lang="en-US" sz="1800" dirty="0"/>
          </a:p>
        </p:txBody>
      </p:sp>
      <p:sp>
        <p:nvSpPr>
          <p:cNvPr id="9" name="Text 5"/>
          <p:cNvSpPr/>
          <p:nvPr/>
        </p:nvSpPr>
        <p:spPr>
          <a:xfrm>
            <a:off x="6248244" y="2638246"/>
            <a:ext cx="533386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Adaptive problem sets that adjust difficulty to mastery, providing immediate hints and scaffolding.</a:t>
            </a:r>
            <a:endParaRPr lang="en-US" sz="1700" dirty="0"/>
          </a:p>
        </p:txBody>
      </p:sp>
      <p:pic>
        <p:nvPicPr>
          <p:cNvPr id="10" name="Image 2" descr="preencoded.png">    </p:cNvPr>
          <p:cNvPicPr>
            <a:picLocks noChangeAspect="1"/>
          </p:cNvPicPr>
          <p:nvPr/>
        </p:nvPicPr>
        <p:blipFill>
          <a:blip r:embed="rId3"/>
          <a:stretch>
            <a:fillRect/>
          </a:stretch>
        </p:blipFill>
        <p:spPr>
          <a:xfrm>
            <a:off x="609585" y="3566418"/>
            <a:ext cx="539736" cy="539750"/>
          </a:xfrm>
          <a:prstGeom prst="rect">
            <a:avLst/>
          </a:prstGeom>
        </p:spPr>
      </p:pic>
      <p:sp>
        <p:nvSpPr>
          <p:cNvPr id="11" name="Text 6"/>
          <p:cNvSpPr/>
          <p:nvPr/>
        </p:nvSpPr>
        <p:spPr>
          <a:xfrm>
            <a:off x="609585" y="4316035"/>
            <a:ext cx="5333867"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Drafting &amp; Review</a:t>
            </a:r>
            <a:endParaRPr lang="en-US" sz="1800" dirty="0"/>
          </a:p>
        </p:txBody>
      </p:sp>
      <p:sp>
        <p:nvSpPr>
          <p:cNvPr id="12" name="Text 7"/>
          <p:cNvSpPr/>
          <p:nvPr/>
        </p:nvSpPr>
        <p:spPr>
          <a:xfrm>
            <a:off x="609585" y="4755277"/>
            <a:ext cx="533386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Feedback on prose clarity, logic consistency, and code runtime debugging before peer critique.</a:t>
            </a:r>
            <a:endParaRPr lang="en-US" sz="1700" dirty="0"/>
          </a:p>
        </p:txBody>
      </p:sp>
      <p:pic>
        <p:nvPicPr>
          <p:cNvPr id="13" name="Image 3" descr="preencoded.png">    </p:cNvPr>
          <p:cNvPicPr>
            <a:picLocks noChangeAspect="1"/>
          </p:cNvPicPr>
          <p:nvPr/>
        </p:nvPicPr>
        <p:blipFill>
          <a:blip r:embed="rId4"/>
          <a:stretch>
            <a:fillRect/>
          </a:stretch>
        </p:blipFill>
        <p:spPr>
          <a:xfrm>
            <a:off x="6248244" y="3566418"/>
            <a:ext cx="539736" cy="539750"/>
          </a:xfrm>
          <a:prstGeom prst="rect">
            <a:avLst/>
          </a:prstGeom>
        </p:spPr>
      </p:pic>
      <p:sp>
        <p:nvSpPr>
          <p:cNvPr id="14" name="Text 8"/>
          <p:cNvSpPr/>
          <p:nvPr/>
        </p:nvSpPr>
        <p:spPr>
          <a:xfrm>
            <a:off x="6248244" y="4316035"/>
            <a:ext cx="5333867" cy="297160"/>
          </a:xfrm>
          <a:prstGeom prst="rect">
            <a:avLst/>
          </a:prstGeom>
          <a:noFill/>
          <a:ln/>
        </p:spPr>
        <p:txBody>
          <a:bodyPr wrap="none" lIns="0" tIns="0" rIns="0" bIns="0" rtlCol="0" anchor="t"/>
          <a:lstStyle/>
          <a:p>
            <a:pPr algn="l" indent="0" marL="0">
              <a:lnSpc>
                <a:spcPct val="108000"/>
              </a:lnSpc>
              <a:buNone/>
            </a:pPr>
            <a:r>
              <a:rPr lang="en-US" sz="1800" dirty="0">
                <a:solidFill>
                  <a:srgbClr val="F4EFEA"/>
                </a:solidFill>
                <a:latin typeface="Open Sans SemiBold" pitchFamily="34" charset="0"/>
                <a:ea typeface="Open Sans SemiBold" pitchFamily="34" charset="-122"/>
                <a:cs typeface="Open Sans SemiBold" pitchFamily="34" charset="-120"/>
              </a:rPr>
              <a:t>Advising &amp; Support</a:t>
            </a:r>
            <a:endParaRPr lang="en-US" sz="1800" dirty="0"/>
          </a:p>
        </p:txBody>
      </p:sp>
      <p:sp>
        <p:nvSpPr>
          <p:cNvPr id="15" name="Text 9"/>
          <p:cNvSpPr/>
          <p:nvPr/>
        </p:nvSpPr>
        <p:spPr>
          <a:xfrm>
            <a:off x="6248244" y="4755277"/>
            <a:ext cx="5333867"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Learning analytics, degree progress tracking, and timely administrative guidance.</a:t>
            </a:r>
            <a:endParaRPr lang="en-US" sz="1700" dirty="0"/>
          </a:p>
        </p:txBody>
      </p:sp>
      <p:sp>
        <p:nvSpPr>
          <p:cNvPr id="16" name="Text 10"/>
          <p:cNvSpPr/>
          <p:nvPr/>
        </p:nvSpPr>
        <p:spPr>
          <a:xfrm>
            <a:off x="609585" y="5579308"/>
            <a:ext cx="11582110" cy="181570"/>
          </a:xfrm>
          <a:prstGeom prst="rect">
            <a:avLst/>
          </a:prstGeom>
          <a:noFill/>
          <a:ln/>
        </p:spPr>
        <p:txBody>
          <a:bodyPr wrap="none" lIns="0" tIns="0" rIns="0" bIns="0" rtlCol="0" anchor="t"/>
          <a:lstStyle/>
          <a:p>
            <a:pPr algn="l" indent="0" marL="0">
              <a:lnSpc>
                <a:spcPct val="108000"/>
              </a:lnSpc>
              <a:buNone/>
            </a:pPr>
            <a:r>
              <a:rPr lang="en-US" sz="1100" spc="22" kern="100" dirty="0">
                <a:solidFill>
                  <a:srgbClr val="BFD3CB"/>
                </a:solidFill>
                <a:latin typeface="Azeret Mono" pitchFamily="34" charset="0"/>
                <a:ea typeface="Azeret Mono" pitchFamily="34" charset="-122"/>
                <a:cs typeface="Azeret Mono" pitchFamily="34" charset="-120"/>
              </a:rPr>
              <a:t>From early inquiry through final evaluation, AI touchpoints reinforce each stage of study.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6585"/>
            <a:ext cx="11582110"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COGNITIVE IMPACT</a:t>
            </a:r>
            <a:endParaRPr lang="en-US" sz="1100" dirty="0"/>
          </a:p>
        </p:txBody>
      </p:sp>
      <p:sp>
        <p:nvSpPr>
          <p:cNvPr id="3" name="Text 1"/>
          <p:cNvSpPr/>
          <p:nvPr/>
        </p:nvSpPr>
        <p:spPr>
          <a:xfrm>
            <a:off x="609585" y="900584"/>
            <a:ext cx="10972526" cy="356592"/>
          </a:xfrm>
          <a:prstGeom prst="rect">
            <a:avLst/>
          </a:prstGeom>
          <a:noFill/>
          <a:ln/>
        </p:spPr>
        <p:txBody>
          <a:bodyPr wrap="none" lIns="0" tIns="0" rIns="0" bIns="0" rtlCol="0" anchor="t"/>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Used well, AI makes learning </a:t>
            </a:r>
            <a:pPr algn="l" indent="0" marL="0">
              <a:lnSpc>
                <a:spcPct val="90000"/>
              </a:lnSpc>
              <a:buNone/>
            </a:pPr>
            <a:r>
              <a:rPr lang="en-US" sz="2600" spc="-78" kern="100" dirty="0">
                <a:solidFill>
                  <a:srgbClr val="F58E84"/>
                </a:solidFill>
                <a:latin typeface="Krona One" pitchFamily="34" charset="0"/>
                <a:ea typeface="Krona One" pitchFamily="34" charset="-122"/>
                <a:cs typeface="Krona One" pitchFamily="34" charset="-120"/>
              </a:rPr>
              <a:t>personal</a:t>
            </a:r>
            <a:endParaRPr lang="en-US" sz="2600" dirty="0"/>
          </a:p>
        </p:txBody>
      </p:sp>
      <p:sp>
        <p:nvSpPr>
          <p:cNvPr id="4" name="Text 2"/>
          <p:cNvSpPr/>
          <p:nvPr/>
        </p:nvSpPr>
        <p:spPr>
          <a:xfrm>
            <a:off x="609585" y="2168465"/>
            <a:ext cx="3657509"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DIMENSION 01</a:t>
            </a:r>
            <a:endParaRPr lang="en-US" sz="1100" dirty="0"/>
          </a:p>
        </p:txBody>
      </p:sp>
      <p:sp>
        <p:nvSpPr>
          <p:cNvPr id="5" name="Text 3"/>
          <p:cNvSpPr/>
          <p:nvPr/>
        </p:nvSpPr>
        <p:spPr>
          <a:xfrm>
            <a:off x="609585" y="2442111"/>
            <a:ext cx="3428914" cy="693341"/>
          </a:xfrm>
          <a:prstGeom prst="rect">
            <a:avLst/>
          </a:prstGeom>
          <a:noFill/>
          <a:ln/>
        </p:spPr>
        <p:txBody>
          <a:bodyPr wrap="square" lIns="0" tIns="0" rIns="0" bIns="0" rtlCol="0" anchor="t">
            <a:normAutofit/>
          </a:bodyPr>
          <a:lstStyle/>
          <a:p>
            <a:pPr algn="l" indent="0" marL="0">
              <a:lnSpc>
                <a:spcPct val="108000"/>
              </a:lnSpc>
              <a:buNone/>
            </a:pPr>
            <a:r>
              <a:rPr lang="en-US" sz="2100" spc="-63" kern="100" dirty="0">
                <a:solidFill>
                  <a:srgbClr val="F4EFEA"/>
                </a:solidFill>
                <a:latin typeface="Krona One" pitchFamily="34" charset="0"/>
                <a:ea typeface="Krona One" pitchFamily="34" charset="-122"/>
                <a:cs typeface="Krona One" pitchFamily="34" charset="-120"/>
              </a:rPr>
              <a:t>Immediate feedback loops</a:t>
            </a:r>
            <a:endParaRPr lang="en-US" sz="2100" dirty="0"/>
          </a:p>
        </p:txBody>
      </p:sp>
      <p:sp>
        <p:nvSpPr>
          <p:cNvPr id="6" name="Text 4"/>
          <p:cNvSpPr/>
          <p:nvPr/>
        </p:nvSpPr>
        <p:spPr>
          <a:xfrm>
            <a:off x="609585" y="3280390"/>
            <a:ext cx="3428914"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Students iterate through difficult derivations immediately instead of waiting days for an assignment return.</a:t>
            </a:r>
            <a:endParaRPr lang="en-US" sz="1700" dirty="0"/>
          </a:p>
        </p:txBody>
      </p:sp>
      <p:sp>
        <p:nvSpPr>
          <p:cNvPr id="7" name="Text 5"/>
          <p:cNvSpPr/>
          <p:nvPr/>
        </p:nvSpPr>
        <p:spPr>
          <a:xfrm>
            <a:off x="609585" y="4659213"/>
            <a:ext cx="3657509" cy="276225"/>
          </a:xfrm>
          <a:prstGeom prst="rect">
            <a:avLst/>
          </a:prstGeom>
          <a:noFill/>
          <a:ln/>
        </p:spPr>
        <p:txBody>
          <a:bodyPr wrap="none" lIns="0" tIns="0" rIns="0" bIns="0" rtlCol="0" anchor="t"/>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Accelerates the </a:t>
            </a:r>
            <a:pPr algn="l" indent="0" marL="0">
              <a:lnSpc>
                <a:spcPct val="121000"/>
              </a:lnSpc>
              <a:buNone/>
            </a:pPr>
            <a:r>
              <a:rPr lang="en-US" sz="1500" b="1" u="sng" dirty="0">
                <a:solidFill>
                  <a:srgbClr val="F4EFEA"/>
                </a:solidFill>
                <a:latin typeface="Open Sans Bold" pitchFamily="34" charset="0"/>
                <a:ea typeface="Open Sans Bold" pitchFamily="34" charset="-122"/>
                <a:cs typeface="Open Sans Bold" pitchFamily="34" charset="-120"/>
              </a:rPr>
              <a:t>trial-and-error cycle</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t>
            </a:r>
            <a:endParaRPr lang="en-US" sz="1500" dirty="0"/>
          </a:p>
        </p:txBody>
      </p:sp>
      <p:sp>
        <p:nvSpPr>
          <p:cNvPr id="8" name="Text 6"/>
          <p:cNvSpPr/>
          <p:nvPr/>
        </p:nvSpPr>
        <p:spPr>
          <a:xfrm>
            <a:off x="4495688" y="2168465"/>
            <a:ext cx="3428914"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DIMENSION 02</a:t>
            </a:r>
            <a:endParaRPr lang="en-US" sz="1100" dirty="0"/>
          </a:p>
        </p:txBody>
      </p:sp>
      <p:sp>
        <p:nvSpPr>
          <p:cNvPr id="9" name="Text 7"/>
          <p:cNvSpPr/>
          <p:nvPr/>
        </p:nvSpPr>
        <p:spPr>
          <a:xfrm>
            <a:off x="4495688" y="2442111"/>
            <a:ext cx="3200320" cy="693341"/>
          </a:xfrm>
          <a:prstGeom prst="rect">
            <a:avLst/>
          </a:prstGeom>
          <a:noFill/>
          <a:ln/>
        </p:spPr>
        <p:txBody>
          <a:bodyPr wrap="square" lIns="0" tIns="0" rIns="0" bIns="0" rtlCol="0" anchor="t">
            <a:normAutofit/>
          </a:bodyPr>
          <a:lstStyle/>
          <a:p>
            <a:pPr algn="l" indent="0" marL="0">
              <a:lnSpc>
                <a:spcPct val="108000"/>
              </a:lnSpc>
              <a:buNone/>
            </a:pPr>
            <a:r>
              <a:rPr lang="en-US" sz="2100" spc="-63" kern="100" dirty="0">
                <a:solidFill>
                  <a:srgbClr val="F4EFEA"/>
                </a:solidFill>
                <a:latin typeface="Krona One" pitchFamily="34" charset="0"/>
                <a:ea typeface="Krona One" pitchFamily="34" charset="-122"/>
                <a:cs typeface="Krona One" pitchFamily="34" charset="-120"/>
              </a:rPr>
              <a:t>Adaptive explanations</a:t>
            </a:r>
            <a:endParaRPr lang="en-US" sz="2100" dirty="0"/>
          </a:p>
        </p:txBody>
      </p:sp>
      <p:sp>
        <p:nvSpPr>
          <p:cNvPr id="10" name="Text 8"/>
          <p:cNvSpPr/>
          <p:nvPr/>
        </p:nvSpPr>
        <p:spPr>
          <a:xfrm>
            <a:off x="4495688" y="3280390"/>
            <a:ext cx="3200320"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One concept can be reframed through physical analogies, formal logic, or code snippets to match personal intuition.</a:t>
            </a:r>
            <a:endParaRPr lang="en-US" sz="1700" dirty="0"/>
          </a:p>
        </p:txBody>
      </p:sp>
      <p:sp>
        <p:nvSpPr>
          <p:cNvPr id="11" name="Text 9"/>
          <p:cNvSpPr/>
          <p:nvPr/>
        </p:nvSpPr>
        <p:spPr>
          <a:xfrm>
            <a:off x="4495688" y="4659213"/>
            <a:ext cx="3428914" cy="276225"/>
          </a:xfrm>
          <a:prstGeom prst="rect">
            <a:avLst/>
          </a:prstGeom>
          <a:noFill/>
          <a:ln/>
        </p:spPr>
        <p:txBody>
          <a:bodyPr wrap="none" lIns="0" tIns="0" rIns="0" bIns="0" rtlCol="0" anchor="t"/>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Meets varied </a:t>
            </a:r>
            <a:pPr algn="l" indent="0" marL="0">
              <a:lnSpc>
                <a:spcPct val="121000"/>
              </a:lnSpc>
              <a:buNone/>
            </a:pPr>
            <a:r>
              <a:rPr lang="en-US" sz="1500" b="1" u="sng" dirty="0">
                <a:solidFill>
                  <a:srgbClr val="F4EFEA"/>
                </a:solidFill>
                <a:latin typeface="Open Sans Bold" pitchFamily="34" charset="0"/>
                <a:ea typeface="Open Sans Bold" pitchFamily="34" charset="-122"/>
                <a:cs typeface="Open Sans Bold" pitchFamily="34" charset="-120"/>
              </a:rPr>
              <a:t>prior backgrounds</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t>
            </a:r>
            <a:endParaRPr lang="en-US" sz="1500" dirty="0"/>
          </a:p>
        </p:txBody>
      </p:sp>
      <p:sp>
        <p:nvSpPr>
          <p:cNvPr id="12" name="Text 10"/>
          <p:cNvSpPr/>
          <p:nvPr/>
        </p:nvSpPr>
        <p:spPr>
          <a:xfrm>
            <a:off x="8153196" y="2168465"/>
            <a:ext cx="3428914"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DIMENSION 03</a:t>
            </a:r>
            <a:endParaRPr lang="en-US" sz="1100" dirty="0"/>
          </a:p>
        </p:txBody>
      </p:sp>
      <p:sp>
        <p:nvSpPr>
          <p:cNvPr id="13" name="Text 11"/>
          <p:cNvSpPr/>
          <p:nvPr/>
        </p:nvSpPr>
        <p:spPr>
          <a:xfrm>
            <a:off x="8153196" y="2442111"/>
            <a:ext cx="3428914" cy="693341"/>
          </a:xfrm>
          <a:prstGeom prst="rect">
            <a:avLst/>
          </a:prstGeom>
          <a:noFill/>
          <a:ln/>
        </p:spPr>
        <p:txBody>
          <a:bodyPr wrap="square" lIns="0" tIns="0" rIns="0" bIns="0" rtlCol="0" anchor="t">
            <a:normAutofit/>
          </a:bodyPr>
          <a:lstStyle/>
          <a:p>
            <a:pPr algn="l" indent="0" marL="0">
              <a:lnSpc>
                <a:spcPct val="108000"/>
              </a:lnSpc>
              <a:buNone/>
            </a:pPr>
            <a:r>
              <a:rPr lang="en-US" sz="2100" spc="-63" kern="100" dirty="0">
                <a:solidFill>
                  <a:srgbClr val="F4EFEA"/>
                </a:solidFill>
                <a:latin typeface="Krona One" pitchFamily="34" charset="0"/>
                <a:ea typeface="Krona One" pitchFamily="34" charset="-122"/>
                <a:cs typeface="Krona One" pitchFamily="34" charset="-120"/>
              </a:rPr>
              <a:t>Liberated educator time</a:t>
            </a:r>
            <a:endParaRPr lang="en-US" sz="2100" dirty="0"/>
          </a:p>
        </p:txBody>
      </p:sp>
      <p:sp>
        <p:nvSpPr>
          <p:cNvPr id="14" name="Text 12"/>
          <p:cNvSpPr/>
          <p:nvPr/>
        </p:nvSpPr>
        <p:spPr>
          <a:xfrm>
            <a:off x="8153196" y="3280390"/>
            <a:ext cx="3428914" cy="1252141"/>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Automating mechanical grading frees professors and teaching assistants for deep mentorship and seminar debate.</a:t>
            </a:r>
            <a:endParaRPr lang="en-US" sz="1700" dirty="0"/>
          </a:p>
        </p:txBody>
      </p:sp>
      <p:sp>
        <p:nvSpPr>
          <p:cNvPr id="15" name="Text 13"/>
          <p:cNvSpPr/>
          <p:nvPr/>
        </p:nvSpPr>
        <p:spPr>
          <a:xfrm>
            <a:off x="8153196" y="4659213"/>
            <a:ext cx="3428914" cy="276225"/>
          </a:xfrm>
          <a:prstGeom prst="rect">
            <a:avLst/>
          </a:prstGeom>
          <a:noFill/>
          <a:ln/>
        </p:spPr>
        <p:txBody>
          <a:bodyPr wrap="none" lIns="0" tIns="0" rIns="0" bIns="0" rtlCol="0" anchor="t"/>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Restores </a:t>
            </a:r>
            <a:pPr algn="l" indent="0" marL="0">
              <a:lnSpc>
                <a:spcPct val="121000"/>
              </a:lnSpc>
              <a:buNone/>
            </a:pPr>
            <a:r>
              <a:rPr lang="en-US" sz="1500" b="1" u="sng" dirty="0">
                <a:solidFill>
                  <a:srgbClr val="F4EFEA"/>
                </a:solidFill>
                <a:latin typeface="Open Sans Bold" pitchFamily="34" charset="0"/>
                <a:ea typeface="Open Sans Bold" pitchFamily="34" charset="-122"/>
                <a:cs typeface="Open Sans Bold" pitchFamily="34" charset="-120"/>
              </a:rPr>
              <a:t>human connection</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t>
            </a:r>
            <a:endParaRPr lang="en-US" sz="1500" dirty="0"/>
          </a:p>
        </p:txBody>
      </p:sp>
      <p:sp>
        <p:nvSpPr>
          <p:cNvPr id="16" name="Shape 14"/>
          <p:cNvSpPr/>
          <p:nvPr/>
        </p:nvSpPr>
        <p:spPr>
          <a:xfrm>
            <a:off x="609585" y="5915025"/>
            <a:ext cx="3620798" cy="279301"/>
          </a:xfrm>
          <a:prstGeom prst="roundRect">
            <a:avLst>
              <a:gd name="adj" fmla="val 49999"/>
            </a:avLst>
          </a:prstGeom>
          <a:solidFill>
            <a:srgbClr val="F58E84"/>
          </a:solidFill>
          <a:ln/>
        </p:spPr>
      </p:sp>
      <p:sp>
        <p:nvSpPr>
          <p:cNvPr id="17" name="Shape 15"/>
          <p:cNvSpPr/>
          <p:nvPr/>
        </p:nvSpPr>
        <p:spPr>
          <a:xfrm>
            <a:off x="4260743" y="2161480"/>
            <a:ext cx="12700" cy="2771577"/>
          </a:xfrm>
          <a:prstGeom prst="rect">
            <a:avLst/>
          </a:prstGeom>
          <a:solidFill>
            <a:srgbClr val="2F6B61"/>
          </a:solidFill>
          <a:ln/>
        </p:spPr>
      </p:sp>
      <p:sp>
        <p:nvSpPr>
          <p:cNvPr id="18" name="Shape 16"/>
          <p:cNvSpPr/>
          <p:nvPr/>
        </p:nvSpPr>
        <p:spPr>
          <a:xfrm>
            <a:off x="7918252" y="2161480"/>
            <a:ext cx="12700" cy="2771577"/>
          </a:xfrm>
          <a:prstGeom prst="rect">
            <a:avLst/>
          </a:prstGeom>
          <a:solidFill>
            <a:srgbClr val="2F6B61"/>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6585"/>
            <a:ext cx="6705432"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REALITY CHECK</a:t>
            </a:r>
            <a:endParaRPr lang="en-US" sz="1100" dirty="0"/>
          </a:p>
        </p:txBody>
      </p:sp>
      <p:sp>
        <p:nvSpPr>
          <p:cNvPr id="3" name="Text 1"/>
          <p:cNvSpPr/>
          <p:nvPr/>
        </p:nvSpPr>
        <p:spPr>
          <a:xfrm>
            <a:off x="609585" y="900584"/>
            <a:ext cx="6095848" cy="713184"/>
          </a:xfrm>
          <a:prstGeom prst="rect">
            <a:avLst/>
          </a:prstGeom>
          <a:noFill/>
          <a:ln/>
        </p:spPr>
        <p:txBody>
          <a:bodyPr wrap="square" lIns="0" tIns="0" rIns="0" bIns="0" rtlCol="0" anchor="t">
            <a:normAutofit/>
          </a:bodyPr>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Examples show both usefulness and limits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9585" y="1767880"/>
          <a:ext cx="6095848" cy="914400"/>
        </p:xfrm>
        <a:graphic>
          <a:graphicData uri="http://schemas.openxmlformats.org/drawingml/2006/table">
            <a:tbl>
              <a:tblPr/>
              <a:tblGrid>
                <a:gridCol w="1706817"/>
                <a:gridCol w="4389030"/>
              </a:tblGrid>
              <a:tr h="547971">
                <a:tc>
                  <a:txBody>
                    <a:bodyPr/>
                    <a:lstStyle/>
                    <a:p>
                      <a:pPr algn="l" indent="0" marL="0">
                        <a:buNone/>
                      </a:pPr>
                      <a:r>
                        <a:rPr lang="en-US" sz="1700" dirty="0">
                          <a:solidFill>
                            <a:srgbClr val="F4EFEA"/>
                          </a:solidFill>
                          <a:latin typeface="Open Sans" pitchFamily="34" charset="0"/>
                          <a:ea typeface="Open Sans" pitchFamily="34" charset="-122"/>
                          <a:cs typeface="Open Sans" pitchFamily="34" charset="-120"/>
                        </a:rPr>
                        <a:t>Example</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004F46"/>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c>
                  <a:txBody>
                    <a:bodyPr/>
                    <a:lstStyle/>
                    <a:p>
                      <a:pPr algn="l" indent="0" marL="0">
                        <a:buNone/>
                      </a:pPr>
                      <a:r>
                        <a:rPr lang="en-US" sz="1700" dirty="0">
                          <a:solidFill>
                            <a:srgbClr val="F4EFEA"/>
                          </a:solidFill>
                          <a:latin typeface="Open Sans" pitchFamily="34" charset="0"/>
                          <a:ea typeface="Open Sans" pitchFamily="34" charset="-122"/>
                          <a:cs typeface="Open Sans" pitchFamily="34" charset="-120"/>
                        </a:rPr>
                        <a:t>What it shows</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004F46"/>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r>
              <a:tr h="860999">
                <a:tc>
                  <a:txBody>
                    <a:bodyPr/>
                    <a:lstStyle/>
                    <a:p>
                      <a:pPr algn="l" indent="0" marL="0">
                        <a:buNone/>
                      </a:pPr>
                      <a:r>
                        <a:rPr lang="en-US" sz="1700" b="1" dirty="0">
                          <a:solidFill>
                            <a:srgbClr val="F4EFEA"/>
                          </a:solidFill>
                          <a:latin typeface="Open Sans" pitchFamily="34" charset="0"/>
                          <a:ea typeface="Open Sans" pitchFamily="34" charset="-122"/>
                          <a:cs typeface="Open Sans" pitchFamily="34" charset="-120"/>
                        </a:rPr>
                        <a:t>Generative AI</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c>
                  <a:txBody>
                    <a:bodyPr/>
                    <a:lstStyle/>
                    <a:p>
                      <a:pPr algn="l" indent="0" marL="0">
                        <a:buNone/>
                      </a:pPr>
                      <a:r>
                        <a:rPr lang="en-US" sz="1700" dirty="0">
                          <a:solidFill>
                            <a:srgbClr val="F4EFEA"/>
                          </a:solidFill>
                          <a:latin typeface="Open Sans" pitchFamily="34" charset="0"/>
                          <a:ea typeface="Open Sans" pitchFamily="34" charset="-122"/>
                          <a:cs typeface="Open Sans" pitchFamily="34" charset="-120"/>
                        </a:rPr>
                        <a:t>Can brainstorm study questions, explain concepts, and role-play an expert.</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r>
              <a:tr h="860999">
                <a:tc>
                  <a:txBody>
                    <a:bodyPr/>
                    <a:lstStyle/>
                    <a:p>
                      <a:pPr algn="l" indent="0" marL="0">
                        <a:buNone/>
                      </a:pPr>
                      <a:r>
                        <a:rPr lang="en-US" sz="1700" b="1" dirty="0">
                          <a:solidFill>
                            <a:srgbClr val="F4EFEA"/>
                          </a:solidFill>
                          <a:latin typeface="Open Sans" pitchFamily="34" charset="0"/>
                          <a:ea typeface="Open Sans" pitchFamily="34" charset="-122"/>
                          <a:cs typeface="Open Sans" pitchFamily="34" charset="-120"/>
                        </a:rPr>
                        <a:t>Predictive systems</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c>
                  <a:txBody>
                    <a:bodyPr/>
                    <a:lstStyle/>
                    <a:p>
                      <a:pPr algn="l" indent="0" marL="0">
                        <a:buNone/>
                      </a:pPr>
                      <a:r>
                        <a:rPr lang="en-US" sz="1700" dirty="0">
                          <a:solidFill>
                            <a:srgbClr val="F4EFEA"/>
                          </a:solidFill>
                          <a:latin typeface="Open Sans" pitchFamily="34" charset="0"/>
                          <a:ea typeface="Open Sans" pitchFamily="34" charset="-122"/>
                          <a:cs typeface="Open Sans" pitchFamily="34" charset="-120"/>
                        </a:rPr>
                        <a:t>Can flag students who may need support earlier.</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F58E84"/>
                      </a:solidFill>
                      <a:prstDash val="solid"/>
                      <a:round/>
                      <a:headEnd type="none" w="med" len="med"/>
                      <a:tailEnd type="none" w="med" len="med"/>
                    </a:lnB>
                  </a:tcPr>
                </a:tc>
              </a:tr>
              <a:tr h="854649">
                <a:tc>
                  <a:txBody>
                    <a:bodyPr/>
                    <a:lstStyle/>
                    <a:p>
                      <a:pPr algn="l" indent="0" marL="0">
                        <a:buNone/>
                      </a:pPr>
                      <a:r>
                        <a:rPr lang="en-US" sz="1700" b="1" dirty="0">
                          <a:solidFill>
                            <a:srgbClr val="F4EFEA"/>
                          </a:solidFill>
                          <a:latin typeface="Open Sans" pitchFamily="34" charset="0"/>
                          <a:ea typeface="Open Sans" pitchFamily="34" charset="-122"/>
                          <a:cs typeface="Open Sans" pitchFamily="34" charset="-120"/>
                        </a:rPr>
                        <a:t>Human review</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004F46"/>
                      </a:solidFill>
                      <a:prstDash val="solid"/>
                      <a:round/>
                      <a:headEnd type="none" w="med" len="med"/>
                      <a:tailEnd type="none" w="med" len="med"/>
                    </a:lnB>
                  </a:tcPr>
                </a:tc>
                <a:tc>
                  <a:txBody>
                    <a:bodyPr/>
                    <a:lstStyle/>
                    <a:p>
                      <a:pPr algn="l" indent="0" marL="0">
                        <a:buNone/>
                      </a:pPr>
                      <a:r>
                        <a:rPr lang="en-US" sz="1700" dirty="0">
                          <a:solidFill>
                            <a:srgbClr val="F4EFEA"/>
                          </a:solidFill>
                          <a:latin typeface="Open Sans" pitchFamily="34" charset="0"/>
                          <a:ea typeface="Open Sans" pitchFamily="34" charset="-122"/>
                          <a:cs typeface="Open Sans" pitchFamily="34" charset="-120"/>
                        </a:rPr>
                        <a:t>Remains essential: AI can be inaccurate, biased, or overconfident.</a:t>
                      </a:r>
                      <a:endParaRPr lang="en-US" sz="1700" dirty="0">
                        <a:latin typeface="Open Sans" charset="0"/>
                        <a:ea typeface="Open Sans" charset="0"/>
                        <a:cs typeface="Open Sans" charset="0"/>
                      </a:endParaRPr>
                    </a:p>
                  </a:txBody>
                  <a:tcPr marL="161921" marR="161921" marT="114297" marB="114297" anchor="ctr">
                    <a:lnL w="12700" cap="flat" cmpd="sng" algn="ctr">
                      <a:solidFill>
                        <a:srgbClr val="004F46"/>
                      </a:solidFill>
                      <a:prstDash val="solid"/>
                      <a:round/>
                      <a:headEnd type="none" w="med" len="med"/>
                      <a:tailEnd type="none" w="med" len="med"/>
                    </a:lnL>
                    <a:lnR w="12700" cap="flat" cmpd="sng" algn="ctr">
                      <a:solidFill>
                        <a:srgbClr val="004F46"/>
                      </a:solidFill>
                      <a:prstDash val="solid"/>
                      <a:round/>
                      <a:headEnd type="none" w="med" len="med"/>
                      <a:tailEnd type="none" w="med" len="med"/>
                    </a:lnR>
                    <a:lnT w="12700" cap="flat" cmpd="sng" algn="ctr">
                      <a:solidFill>
                        <a:srgbClr val="F58E84"/>
                      </a:solidFill>
                      <a:prstDash val="solid"/>
                      <a:round/>
                      <a:headEnd type="none" w="med" len="med"/>
                      <a:tailEnd type="none" w="med" len="med"/>
                    </a:lnT>
                    <a:lnB w="12700" cap="flat" cmpd="sng" algn="ctr">
                      <a:solidFill>
                        <a:srgbClr val="004F46"/>
                      </a:solidFill>
                      <a:prstDash val="solid"/>
                      <a:round/>
                      <a:headEnd type="none" w="med" len="med"/>
                      <a:tailEnd type="none" w="med" len="med"/>
                    </a:lnB>
                  </a:tcPr>
                </a:tc>
              </a:tr>
            </a:tbl>
          </a:graphicData>
        </a:graphic>
      </p:graphicFrame>
      <p:sp>
        <p:nvSpPr>
          <p:cNvPr id="5" name="Text 2"/>
          <p:cNvSpPr/>
          <p:nvPr/>
        </p:nvSpPr>
        <p:spPr>
          <a:xfrm>
            <a:off x="609585" y="5698331"/>
            <a:ext cx="6095848" cy="552450"/>
          </a:xfrm>
          <a:prstGeom prst="rect">
            <a:avLst/>
          </a:prstGeom>
          <a:noFill/>
          <a:ln/>
        </p:spPr>
        <p:txBody>
          <a:bodyPr wrap="square" lIns="0" tIns="0" rIns="0" bIns="0" rtlCol="0" anchor="t">
            <a:normAutofit/>
          </a:bodyPr>
          <a:lstStyle/>
          <a:p>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Human verification is not optional: AI outputs are </a:t>
            </a:r>
            <a:pPr algn="l" indent="0" marL="0">
              <a:lnSpc>
                <a:spcPct val="121000"/>
              </a:lnSpc>
              <a:buNone/>
            </a:pPr>
            <a:r>
              <a:rPr lang="en-US" sz="1500" b="1" u="sng" dirty="0">
                <a:solidFill>
                  <a:srgbClr val="F4EFEA"/>
                </a:solidFill>
                <a:latin typeface="Open Sans Bold" pitchFamily="34" charset="0"/>
                <a:ea typeface="Open Sans Bold" pitchFamily="34" charset="-122"/>
                <a:cs typeface="Open Sans Bold" pitchFamily="34" charset="-120"/>
              </a:rPr>
              <a:t>hypotheses, not authority</a:t>
            </a:r>
            <a:pPr algn="l" indent="0" marL="0">
              <a:lnSpc>
                <a:spcPct val="121000"/>
              </a:lnSpc>
              <a:buNone/>
            </a:pPr>
            <a:r>
              <a:rPr lang="en-US" sz="1500" dirty="0">
                <a:solidFill>
                  <a:srgbClr val="F4EFEA"/>
                </a:solidFill>
                <a:latin typeface="Open Sans" pitchFamily="34" charset="0"/>
                <a:ea typeface="Open Sans" pitchFamily="34" charset="-122"/>
                <a:cs typeface="Open Sans" pitchFamily="34" charset="-120"/>
              </a:rPr>
              <a:t>.</a:t>
            </a:r>
            <a:endParaRPr lang="en-US" sz="1500" dirty="0"/>
          </a:p>
        </p:txBody>
      </p:sp>
      <p:pic>
        <p:nvPicPr>
          <p:cNvPr id="6" name="Image 0" descr="preencoded.png">    </p:cNvPr>
          <p:cNvPicPr>
            <a:picLocks noChangeAspect="1"/>
          </p:cNvPicPr>
          <p:nvPr/>
        </p:nvPicPr>
        <p:blipFill>
          <a:blip r:embed="rId1"/>
          <a:stretch>
            <a:fillRect/>
          </a:stretch>
        </p:blipFill>
        <p:spPr>
          <a:xfrm>
            <a:off x="7315017" y="0"/>
            <a:ext cx="487667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6585"/>
            <a:ext cx="9956551"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Medium" pitchFamily="34" charset="0"/>
                <a:ea typeface="Azeret Mono Medium" pitchFamily="34" charset="-122"/>
                <a:cs typeface="Azeret Mono Medium" pitchFamily="34" charset="-120"/>
              </a:rPr>
              <a:t>CAPABILITY BUILDING</a:t>
            </a:r>
            <a:endParaRPr lang="en-US" sz="1100" dirty="0"/>
          </a:p>
        </p:txBody>
      </p:sp>
      <p:sp>
        <p:nvSpPr>
          <p:cNvPr id="3" name="Text 1"/>
          <p:cNvSpPr/>
          <p:nvPr/>
        </p:nvSpPr>
        <p:spPr>
          <a:xfrm>
            <a:off x="609585" y="900584"/>
            <a:ext cx="9346966" cy="713184"/>
          </a:xfrm>
          <a:prstGeom prst="rect">
            <a:avLst/>
          </a:prstGeom>
          <a:noFill/>
          <a:ln/>
        </p:spPr>
        <p:txBody>
          <a:bodyPr wrap="square" lIns="0" tIns="0" rIns="0" bIns="0" rtlCol="0" anchor="t">
            <a:normAutofit/>
          </a:bodyPr>
          <a:lstStyle/>
          <a:p>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The next phase is </a:t>
            </a:r>
            <a:pPr algn="l" indent="0" marL="0">
              <a:lnSpc>
                <a:spcPct val="90000"/>
              </a:lnSpc>
              <a:buNone/>
            </a:pPr>
            <a:r>
              <a:rPr lang="en-US" sz="2600" spc="-78" kern="100" dirty="0">
                <a:solidFill>
                  <a:srgbClr val="F58E84"/>
                </a:solidFill>
                <a:latin typeface="Krona One" pitchFamily="34" charset="0"/>
                <a:ea typeface="Krona One" pitchFamily="34" charset="-122"/>
                <a:cs typeface="Krona One" pitchFamily="34" charset="-120"/>
              </a:rPr>
              <a:t>AI literacy</a:t>
            </a:r>
            <a:pPr algn="l" indent="0" marL="0">
              <a:lnSpc>
                <a:spcPct val="90000"/>
              </a:lnSpc>
              <a:buNone/>
            </a:pPr>
            <a:r>
              <a:rPr lang="en-US" sz="2600" spc="-78" kern="100" dirty="0">
                <a:solidFill>
                  <a:srgbClr val="F4EFEA"/>
                </a:solidFill>
                <a:latin typeface="Krona One" pitchFamily="34" charset="0"/>
                <a:ea typeface="Krona One" pitchFamily="34" charset="-122"/>
                <a:cs typeface="Krona One" pitchFamily="34" charset="-120"/>
              </a:rPr>
              <a:t>, not AI dependence</a:t>
            </a:r>
            <a:endParaRPr lang="en-US" sz="2600" dirty="0"/>
          </a:p>
        </p:txBody>
      </p:sp>
      <p:pic>
        <p:nvPicPr>
          <p:cNvPr id="4" name="Image 0" descr="preencoded.png">    </p:cNvPr>
          <p:cNvPicPr>
            <a:picLocks noChangeAspect="1"/>
          </p:cNvPicPr>
          <p:nvPr/>
        </p:nvPicPr>
        <p:blipFill>
          <a:blip r:embed="rId1"/>
          <a:stretch>
            <a:fillRect/>
          </a:stretch>
        </p:blipFill>
        <p:spPr>
          <a:xfrm>
            <a:off x="609585" y="2111871"/>
            <a:ext cx="431789" cy="431800"/>
          </a:xfrm>
          <a:prstGeom prst="rect">
            <a:avLst/>
          </a:prstGeom>
        </p:spPr>
      </p:pic>
      <p:sp>
        <p:nvSpPr>
          <p:cNvPr id="5" name="Text 2"/>
          <p:cNvSpPr/>
          <p:nvPr/>
        </p:nvSpPr>
        <p:spPr>
          <a:xfrm>
            <a:off x="917552" y="2232521"/>
            <a:ext cx="733407" cy="190500"/>
          </a:xfrm>
          <a:prstGeom prst="rect">
            <a:avLst/>
          </a:prstGeom>
          <a:noFill/>
          <a:ln/>
        </p:spPr>
        <p:txBody>
          <a:bodyPr wrap="none" lIns="0" tIns="0" rIns="0" bIns="0" rtlCol="0" anchor="t"/>
          <a:lstStyle/>
          <a:p>
            <a:pPr algn="l" indent="0" marL="0">
              <a:lnSpc>
                <a:spcPct val="83000"/>
              </a:lnSpc>
              <a:buNone/>
            </a:pPr>
            <a:r>
              <a:rPr lang="en-US" sz="1500" dirty="0">
                <a:solidFill>
                  <a:srgbClr val="F4EFEA"/>
                </a:solidFill>
                <a:latin typeface="Azeret Mono SemiBold" pitchFamily="34" charset="0"/>
                <a:ea typeface="Azeret Mono SemiBold" pitchFamily="34" charset="-122"/>
                <a:cs typeface="Azeret Mono SemiBold" pitchFamily="34" charset="-120"/>
              </a:rPr>
              <a:t>1</a:t>
            </a:r>
            <a:endParaRPr lang="en-US" sz="1500" dirty="0"/>
          </a:p>
        </p:txBody>
      </p:sp>
      <p:sp>
        <p:nvSpPr>
          <p:cNvPr id="6" name="Text 3"/>
          <p:cNvSpPr/>
          <p:nvPr/>
        </p:nvSpPr>
        <p:spPr>
          <a:xfrm>
            <a:off x="1219170" y="2159020"/>
            <a:ext cx="8737381" cy="313035"/>
          </a:xfrm>
          <a:prstGeom prst="rect">
            <a:avLst/>
          </a:prstGeom>
          <a:noFill/>
          <a:ln/>
        </p:spPr>
        <p:txBody>
          <a:bodyPr wrap="none" lIns="0" tIns="0" rIns="0" bIns="0" rtlCol="0" anchor="t"/>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Expect AI copilots embedded in learning platforms, labs, and career preparation.</a:t>
            </a:r>
            <a:endParaRPr lang="en-US" sz="1700" dirty="0"/>
          </a:p>
        </p:txBody>
      </p:sp>
      <p:pic>
        <p:nvPicPr>
          <p:cNvPr id="7" name="Image 1" descr="preencoded.png">    </p:cNvPr>
          <p:cNvPicPr>
            <a:picLocks noChangeAspect="1"/>
          </p:cNvPicPr>
          <p:nvPr/>
        </p:nvPicPr>
        <p:blipFill>
          <a:blip r:embed="rId2"/>
          <a:stretch>
            <a:fillRect/>
          </a:stretch>
        </p:blipFill>
        <p:spPr>
          <a:xfrm>
            <a:off x="609585" y="3627438"/>
            <a:ext cx="431789" cy="431800"/>
          </a:xfrm>
          <a:prstGeom prst="rect">
            <a:avLst/>
          </a:prstGeom>
        </p:spPr>
      </p:pic>
      <p:sp>
        <p:nvSpPr>
          <p:cNvPr id="8" name="Text 4"/>
          <p:cNvSpPr/>
          <p:nvPr/>
        </p:nvSpPr>
        <p:spPr>
          <a:xfrm>
            <a:off x="917552" y="3748088"/>
            <a:ext cx="733407" cy="190500"/>
          </a:xfrm>
          <a:prstGeom prst="rect">
            <a:avLst/>
          </a:prstGeom>
          <a:noFill/>
          <a:ln/>
        </p:spPr>
        <p:txBody>
          <a:bodyPr wrap="none" lIns="0" tIns="0" rIns="0" bIns="0" rtlCol="0" anchor="t"/>
          <a:lstStyle/>
          <a:p>
            <a:pPr algn="l" indent="0" marL="0">
              <a:lnSpc>
                <a:spcPct val="83000"/>
              </a:lnSpc>
              <a:buNone/>
            </a:pPr>
            <a:r>
              <a:rPr lang="en-US" sz="1500" dirty="0">
                <a:solidFill>
                  <a:srgbClr val="F4EFEA"/>
                </a:solidFill>
                <a:latin typeface="Azeret Mono SemiBold" pitchFamily="34" charset="0"/>
                <a:ea typeface="Azeret Mono SemiBold" pitchFamily="34" charset="-122"/>
                <a:cs typeface="Azeret Mono SemiBold" pitchFamily="34" charset="-120"/>
              </a:rPr>
              <a:t>2</a:t>
            </a:r>
            <a:endParaRPr lang="en-US" sz="1500" dirty="0"/>
          </a:p>
        </p:txBody>
      </p:sp>
      <p:sp>
        <p:nvSpPr>
          <p:cNvPr id="9" name="Text 5"/>
          <p:cNvSpPr/>
          <p:nvPr/>
        </p:nvSpPr>
        <p:spPr>
          <a:xfrm>
            <a:off x="1219170" y="3674586"/>
            <a:ext cx="8737381" cy="313035"/>
          </a:xfrm>
          <a:prstGeom prst="rect">
            <a:avLst/>
          </a:prstGeom>
          <a:noFill/>
          <a:ln/>
        </p:spPr>
        <p:txBody>
          <a:bodyPr wrap="none" lIns="0" tIns="0" rIns="0" bIns="0" rtlCol="0" anchor="t"/>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Build skills in prompting, verification, data privacy, attribution, and ethical judgment.</a:t>
            </a:r>
            <a:endParaRPr lang="en-US" sz="1700" dirty="0"/>
          </a:p>
        </p:txBody>
      </p:sp>
      <p:pic>
        <p:nvPicPr>
          <p:cNvPr id="10" name="Image 2" descr="preencoded.png">    </p:cNvPr>
          <p:cNvPicPr>
            <a:picLocks noChangeAspect="1"/>
          </p:cNvPicPr>
          <p:nvPr/>
        </p:nvPicPr>
        <p:blipFill>
          <a:blip r:embed="rId3"/>
          <a:stretch>
            <a:fillRect/>
          </a:stretch>
        </p:blipFill>
        <p:spPr>
          <a:xfrm>
            <a:off x="609585" y="5143004"/>
            <a:ext cx="431789" cy="431800"/>
          </a:xfrm>
          <a:prstGeom prst="rect">
            <a:avLst/>
          </a:prstGeom>
        </p:spPr>
      </p:pic>
      <p:sp>
        <p:nvSpPr>
          <p:cNvPr id="11" name="Text 6"/>
          <p:cNvSpPr/>
          <p:nvPr/>
        </p:nvSpPr>
        <p:spPr>
          <a:xfrm>
            <a:off x="917552" y="5263654"/>
            <a:ext cx="733407" cy="190500"/>
          </a:xfrm>
          <a:prstGeom prst="rect">
            <a:avLst/>
          </a:prstGeom>
          <a:noFill/>
          <a:ln/>
        </p:spPr>
        <p:txBody>
          <a:bodyPr wrap="none" lIns="0" tIns="0" rIns="0" bIns="0" rtlCol="0" anchor="t"/>
          <a:lstStyle/>
          <a:p>
            <a:pPr algn="l" indent="0" marL="0">
              <a:lnSpc>
                <a:spcPct val="83000"/>
              </a:lnSpc>
              <a:buNone/>
            </a:pPr>
            <a:r>
              <a:rPr lang="en-US" sz="1500" dirty="0">
                <a:solidFill>
                  <a:srgbClr val="F4EFEA"/>
                </a:solidFill>
                <a:latin typeface="Azeret Mono SemiBold" pitchFamily="34" charset="0"/>
                <a:ea typeface="Azeret Mono SemiBold" pitchFamily="34" charset="-122"/>
                <a:cs typeface="Azeret Mono SemiBold" pitchFamily="34" charset="-120"/>
              </a:rPr>
              <a:t>3</a:t>
            </a:r>
            <a:endParaRPr lang="en-US" sz="1500" dirty="0"/>
          </a:p>
        </p:txBody>
      </p:sp>
      <p:sp>
        <p:nvSpPr>
          <p:cNvPr id="12" name="Text 7"/>
          <p:cNvSpPr/>
          <p:nvPr/>
        </p:nvSpPr>
        <p:spPr>
          <a:xfrm>
            <a:off x="1219170" y="5190153"/>
            <a:ext cx="8737381" cy="313035"/>
          </a:xfrm>
          <a:prstGeom prst="rect">
            <a:avLst/>
          </a:prstGeom>
          <a:noFill/>
          <a:ln/>
        </p:spPr>
        <p:txBody>
          <a:bodyPr wrap="none" lIns="0" tIns="0" rIns="0" bIns="0" rtlCol="0" anchor="t"/>
          <a:lstStyle/>
          <a:p>
            <a:pPr algn="l" indent="0" marL="0">
              <a:lnSpc>
                <a:spcPct val="121000"/>
              </a:lnSpc>
              <a:buNone/>
            </a:pPr>
            <a:r>
              <a:rPr lang="en-US" sz="1700" dirty="0">
                <a:solidFill>
                  <a:srgbClr val="F4EFEA"/>
                </a:solidFill>
                <a:latin typeface="Open Sans" pitchFamily="34" charset="0"/>
                <a:ea typeface="Open Sans" pitchFamily="34" charset="-122"/>
                <a:cs typeface="Open Sans" pitchFamily="34" charset="-120"/>
              </a:rPr>
              <a:t>Design assessment around reasoning and process, not only final answers.</a:t>
            </a:r>
            <a:endParaRPr lang="en-US" sz="1700" dirty="0"/>
          </a:p>
        </p:txBody>
      </p:sp>
      <p:sp>
        <p:nvSpPr>
          <p:cNvPr id="13" name="Text 8"/>
          <p:cNvSpPr/>
          <p:nvPr/>
        </p:nvSpPr>
        <p:spPr>
          <a:xfrm>
            <a:off x="609585" y="6073815"/>
            <a:ext cx="9956551"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BFD3CB"/>
                </a:solidFill>
                <a:latin typeface="Azeret Mono" pitchFamily="34" charset="0"/>
                <a:ea typeface="Azeret Mono" pitchFamily="34" charset="-122"/>
                <a:cs typeface="Azeret Mono" pitchFamily="34" charset="-120"/>
              </a:rPr>
              <a:t>Curriculum Evolution Framework · Fall 2026</a:t>
            </a:r>
            <a:endParaRPr lang="en-US" sz="1100" dirty="0"/>
          </a:p>
        </p:txBody>
      </p:sp>
      <p:sp>
        <p:nvSpPr>
          <p:cNvPr id="14" name="Shape 9"/>
          <p:cNvSpPr/>
          <p:nvPr/>
        </p:nvSpPr>
        <p:spPr>
          <a:xfrm>
            <a:off x="609585" y="3064272"/>
            <a:ext cx="9346966" cy="12700"/>
          </a:xfrm>
          <a:prstGeom prst="rect">
            <a:avLst/>
          </a:prstGeom>
          <a:solidFill>
            <a:srgbClr val="F58E84"/>
          </a:solidFill>
          <a:ln/>
        </p:spPr>
      </p:sp>
      <p:sp>
        <p:nvSpPr>
          <p:cNvPr id="15" name="Shape 10"/>
          <p:cNvSpPr/>
          <p:nvPr/>
        </p:nvSpPr>
        <p:spPr>
          <a:xfrm>
            <a:off x="609585" y="4579838"/>
            <a:ext cx="9346966" cy="12700"/>
          </a:xfrm>
          <a:prstGeom prst="rect">
            <a:avLst/>
          </a:prstGeom>
          <a:solidFill>
            <a:srgbClr val="F58E84"/>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5156" y="946785"/>
            <a:ext cx="7359466"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FFFFF"/>
                </a:solidFill>
                <a:latin typeface="Azeret Mono Medium" pitchFamily="34" charset="0"/>
                <a:ea typeface="Azeret Mono Medium" pitchFamily="34" charset="-122"/>
                <a:cs typeface="Azeret Mono Medium" pitchFamily="34" charset="-120"/>
              </a:rPr>
              <a:t>PRINCIPLE FOR PRACTICE</a:t>
            </a:r>
            <a:endParaRPr lang="en-US" sz="1100" dirty="0"/>
          </a:p>
        </p:txBody>
      </p:sp>
      <p:sp>
        <p:nvSpPr>
          <p:cNvPr id="3" name="Text 1"/>
          <p:cNvSpPr/>
          <p:nvPr/>
        </p:nvSpPr>
        <p:spPr>
          <a:xfrm>
            <a:off x="765156" y="1241385"/>
            <a:ext cx="6749881" cy="1481137"/>
          </a:xfrm>
          <a:prstGeom prst="rect">
            <a:avLst/>
          </a:prstGeom>
          <a:noFill/>
          <a:ln/>
        </p:spPr>
        <p:txBody>
          <a:bodyPr wrap="square" lIns="0" tIns="0" rIns="0" bIns="0" rtlCol="0" anchor="t">
            <a:normAutofit/>
          </a:bodyPr>
          <a:lstStyle/>
          <a:p>
            <a:pPr algn="l" indent="0" marL="0">
              <a:lnSpc>
                <a:spcPct val="90000"/>
              </a:lnSpc>
              <a:buNone/>
            </a:pPr>
            <a:r>
              <a:rPr lang="en-US" sz="3600" spc="-108" kern="100" dirty="0">
                <a:solidFill>
                  <a:srgbClr val="FFFFFF"/>
                </a:solidFill>
                <a:latin typeface="Krona One" pitchFamily="34" charset="0"/>
                <a:ea typeface="Krona One" pitchFamily="34" charset="-122"/>
                <a:cs typeface="Krona One" pitchFamily="34" charset="-120"/>
              </a:rPr>
              <a:t>Use AI to deepen learning,</a:t>
            </a:r>
            <a:endParaRPr lang="en-US" sz="3600" dirty="0"/>
          </a:p>
          <a:p>
            <a:pPr algn="l" indent="0" marL="0">
              <a:lnSpc>
                <a:spcPct val="90000"/>
              </a:lnSpc>
              <a:buNone/>
            </a:pPr>
            <a:r>
              <a:rPr lang="en-US" sz="3600" spc="-108" kern="100" dirty="0">
                <a:solidFill>
                  <a:srgbClr val="F58E84"/>
                </a:solidFill>
                <a:latin typeface="Krona One" pitchFamily="34" charset="0"/>
                <a:ea typeface="Krona One" pitchFamily="34" charset="-122"/>
                <a:cs typeface="Krona One" pitchFamily="34" charset="-120"/>
              </a:rPr>
              <a:t>not outsource it</a:t>
            </a:r>
            <a:endParaRPr lang="en-US" sz="3600" dirty="0"/>
          </a:p>
        </p:txBody>
      </p:sp>
      <p:sp>
        <p:nvSpPr>
          <p:cNvPr id="4" name="Text 2"/>
          <p:cNvSpPr/>
          <p:nvPr/>
        </p:nvSpPr>
        <p:spPr>
          <a:xfrm>
            <a:off x="765156" y="2907308"/>
            <a:ext cx="6749881"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Open Sans" pitchFamily="34" charset="0"/>
                <a:ea typeface="Open Sans" pitchFamily="34" charset="-122"/>
                <a:cs typeface="Open Sans" pitchFamily="34" charset="-120"/>
              </a:rPr>
              <a:t>Anchor every interaction in your own curiosity, verify every output, and own your conclusions.</a:t>
            </a:r>
            <a:endParaRPr lang="en-US" sz="2000" dirty="0"/>
          </a:p>
        </p:txBody>
      </p:sp>
      <p:pic>
        <p:nvPicPr>
          <p:cNvPr id="5" name="Image 0" descr="preencoded.png">    </p:cNvPr>
          <p:cNvPicPr>
            <a:picLocks noChangeAspect="1"/>
          </p:cNvPicPr>
          <p:nvPr/>
        </p:nvPicPr>
        <p:blipFill>
          <a:blip r:embed="rId1"/>
          <a:stretch>
            <a:fillRect/>
          </a:stretch>
        </p:blipFill>
        <p:spPr>
          <a:xfrm>
            <a:off x="765156" y="4118868"/>
            <a:ext cx="304792" cy="304800"/>
          </a:xfrm>
          <a:prstGeom prst="rect">
            <a:avLst/>
          </a:prstGeom>
        </p:spPr>
      </p:pic>
      <p:sp>
        <p:nvSpPr>
          <p:cNvPr id="6" name="Text 3"/>
          <p:cNvSpPr/>
          <p:nvPr/>
        </p:nvSpPr>
        <p:spPr>
          <a:xfrm>
            <a:off x="1222344" y="4117499"/>
            <a:ext cx="5784705"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FFFFF"/>
                </a:solidFill>
                <a:latin typeface="Open Sans" pitchFamily="34" charset="0"/>
                <a:ea typeface="Open Sans" pitchFamily="34" charset="-122"/>
                <a:cs typeface="Open Sans" pitchFamily="34" charset="-120"/>
              </a:rPr>
              <a:t>Start with a learning goal, verify outputs, and disclose meaningful AI assistance.</a:t>
            </a:r>
            <a:endParaRPr lang="en-US" sz="1700" dirty="0"/>
          </a:p>
        </p:txBody>
      </p:sp>
      <p:pic>
        <p:nvPicPr>
          <p:cNvPr id="7" name="Image 1" descr="preencoded.png">    </p:cNvPr>
          <p:cNvPicPr>
            <a:picLocks noChangeAspect="1"/>
          </p:cNvPicPr>
          <p:nvPr/>
        </p:nvPicPr>
        <p:blipFill>
          <a:blip r:embed="rId2"/>
          <a:stretch>
            <a:fillRect/>
          </a:stretch>
        </p:blipFill>
        <p:spPr>
          <a:xfrm>
            <a:off x="765156" y="4897338"/>
            <a:ext cx="304792" cy="304800"/>
          </a:xfrm>
          <a:prstGeom prst="rect">
            <a:avLst/>
          </a:prstGeom>
        </p:spPr>
      </p:pic>
      <p:sp>
        <p:nvSpPr>
          <p:cNvPr id="8" name="Text 4"/>
          <p:cNvSpPr/>
          <p:nvPr/>
        </p:nvSpPr>
        <p:spPr>
          <a:xfrm>
            <a:off x="1222344" y="4895969"/>
            <a:ext cx="5784705" cy="626070"/>
          </a:xfrm>
          <a:prstGeom prst="rect">
            <a:avLst/>
          </a:prstGeom>
          <a:noFill/>
          <a:ln/>
        </p:spPr>
        <p:txBody>
          <a:bodyPr wrap="square" lIns="0" tIns="0" rIns="0" bIns="0" rtlCol="0" anchor="t">
            <a:normAutofit/>
          </a:bodyPr>
          <a:lstStyle/>
          <a:p>
            <a:pPr algn="l" indent="0" marL="0">
              <a:lnSpc>
                <a:spcPct val="121000"/>
              </a:lnSpc>
              <a:buNone/>
            </a:pPr>
            <a:r>
              <a:rPr lang="en-US" sz="1700" dirty="0">
                <a:solidFill>
                  <a:srgbClr val="FFFFFF"/>
                </a:solidFill>
                <a:latin typeface="Open Sans" pitchFamily="34" charset="0"/>
                <a:ea typeface="Open Sans" pitchFamily="34" charset="-122"/>
                <a:cs typeface="Open Sans" pitchFamily="34" charset="-120"/>
              </a:rPr>
              <a:t>The strongest future pairs capable tools with curious students and engaged educators.</a:t>
            </a:r>
            <a:endParaRPr lang="en-US" sz="1700" dirty="0"/>
          </a:p>
        </p:txBody>
      </p:sp>
      <p:sp>
        <p:nvSpPr>
          <p:cNvPr id="9" name="Text 5"/>
          <p:cNvSpPr/>
          <p:nvPr/>
        </p:nvSpPr>
        <p:spPr>
          <a:xfrm>
            <a:off x="765156" y="6026785"/>
            <a:ext cx="5835504" cy="181570"/>
          </a:xfrm>
          <a:prstGeom prst="rect">
            <a:avLst/>
          </a:prstGeom>
          <a:noFill/>
          <a:ln/>
        </p:spPr>
        <p:txBody>
          <a:bodyPr wrap="none" lIns="0" tIns="0" rIns="0" bIns="0" rtlCol="0" anchor="t"/>
          <a:lstStyle/>
          <a:p>
            <a:pPr algn="l" indent="0" marL="0">
              <a:lnSpc>
                <a:spcPct val="108000"/>
              </a:lnSpc>
              <a:buNone/>
            </a:pPr>
            <a:r>
              <a:rPr lang="en-US" sz="1100" spc="132" kern="100" dirty="0">
                <a:solidFill>
                  <a:srgbClr val="FFFFFF"/>
                </a:solidFill>
                <a:latin typeface="Azeret Mono" pitchFamily="34" charset="0"/>
                <a:ea typeface="Azeret Mono" pitchFamily="34" charset="-122"/>
                <a:cs typeface="Azeret Mono" pitchFamily="34" charset="-120"/>
              </a:rPr>
              <a:t>Academic Integrity &amp; Innovation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2026-10-07T05:11:25Z</dcterms:created>
  <dcterms:modified xsi:type="dcterms:W3CDTF">2026-10-07T05:11:25Z</dcterms:modified>
</cp:coreProperties>
</file>